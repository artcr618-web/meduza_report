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6386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ersity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386048"/>
          </a:xfrm>
          <a:prstGeom prst="rect">
            <a:avLst/>
          </a:prstGeom>
        </p:spPr>
      </p:pic>
      <p:sp>
        <p:nvSpPr>
          <p:cNvPr id="3" name="Заголовок — можно двигать"/>
          <p:cNvSpPr/>
          <p:nvPr/>
        </p:nvSpPr>
        <p:spPr>
          <a:xfrm>
            <a:off x="640080" y="365760"/>
            <a:ext cx="7863840" cy="1554480"/>
          </a:xfrm>
          <a:prstGeom prst="roundRect">
            <a:avLst>
              <a:gd name="adj" fmla="val 8000"/>
            </a:avLst>
          </a:prstGeom>
          <a:solidFill>
            <a:srgbClr val="041E3C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РАЗНООБРАЗИЕ МЕДУЗ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B4DCFF"/>
                </a:solidFill>
                <a:latin typeface="Arial"/>
              </a:rPr>
              <a:t>удивительные стрекающие океана</a:t>
            </a:r>
          </a:p>
        </p:txBody>
      </p:sp>
      <p:sp>
        <p:nvSpPr>
          <p:cNvPr id="4" name="Карточка 1. Цианея — можно двигать"/>
          <p:cNvSpPr/>
          <p:nvPr/>
        </p:nvSpPr>
        <p:spPr>
          <a:xfrm>
            <a:off x="4937760" y="2103120"/>
            <a:ext cx="3749039" cy="2926080"/>
          </a:xfrm>
          <a:prstGeom prst="roundRect">
            <a:avLst>
              <a:gd name="adj" fmla="val 8000"/>
            </a:avLst>
          </a:prstGeom>
          <a:solidFill>
            <a:srgbClr val="041E3C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1. Цианея «львиная грива»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4DCFF"/>
                </a:solidFill>
                <a:latin typeface="Arial"/>
              </a:rPr>
              <a:t>(Cyanea capillata)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Самая большая медуза: купол до 2,5 м, щупальца до 37 м!</a:t>
            </a:r>
          </a:p>
        </p:txBody>
      </p:sp>
      <p:sp>
        <p:nvSpPr>
          <p:cNvPr id="5" name="Карточка 2. Кубомедуза — можно двигать"/>
          <p:cNvSpPr/>
          <p:nvPr/>
        </p:nvSpPr>
        <p:spPr>
          <a:xfrm>
            <a:off x="4846320" y="11338560"/>
            <a:ext cx="3840480" cy="2560320"/>
          </a:xfrm>
          <a:prstGeom prst="roundRect">
            <a:avLst>
              <a:gd name="adj" fmla="val 8000"/>
            </a:avLst>
          </a:prstGeom>
          <a:solidFill>
            <a:srgbClr val="041E3C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2. Кубомедуза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4DCFF"/>
                </a:solidFill>
                <a:latin typeface="Arial"/>
              </a:rPr>
              <a:t>(Chironex fleckeri)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«Морская оса» — самая ядовитая, 24 глаза!</a:t>
            </a:r>
          </a:p>
        </p:txBody>
      </p:sp>
      <p:sp>
        <p:nvSpPr>
          <p:cNvPr id="6" name="Карточка 3. Бессмертная — можно двигать"/>
          <p:cNvSpPr/>
          <p:nvPr/>
        </p:nvSpPr>
        <p:spPr>
          <a:xfrm>
            <a:off x="2194560" y="13533120"/>
            <a:ext cx="4297680" cy="2286000"/>
          </a:xfrm>
          <a:prstGeom prst="roundRect">
            <a:avLst>
              <a:gd name="adj" fmla="val 8000"/>
            </a:avLst>
          </a:prstGeom>
          <a:solidFill>
            <a:srgbClr val="041E3C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3. Бессмертная медуза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4DCFF"/>
                </a:solidFill>
                <a:latin typeface="Arial"/>
              </a:rPr>
              <a:t>(Turritopsis dohrnii)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Крошка 5 мм умеет молодеть и жить заново!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D23F"/>
                </a:solidFill>
                <a:latin typeface="Arial"/>
              </a:rPr>
              <a:t>Как двигать карточки 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041E3C"/>
          </a:solidFill>
          <a:ln w="254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>
                <a:solidFill>
                  <a:srgbClr val="FFD23F"/>
                </a:solidFill>
                <a:latin typeface="Arial"/>
              </a:rPr>
              <a:t>Двигать: </a:t>
            </a:r>
            <a:r>
              <a:rPr sz="1900">
                <a:solidFill>
                  <a:srgbClr val="FFFFFF"/>
                </a:solidFill>
                <a:latin typeface="Arial"/>
              </a:rPr>
              <a:t>кликни по карточке левой кнопкой мыши и тяни в любое место картинки.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61488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041E3C"/>
          </a:solidFill>
          <a:ln w="254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>
                <a:solidFill>
                  <a:srgbClr val="FFD23F"/>
                </a:solidFill>
                <a:latin typeface="Arial"/>
              </a:rPr>
              <a:t>Размер: </a:t>
            </a:r>
            <a:r>
              <a:rPr sz="1900">
                <a:solidFill>
                  <a:srgbClr val="FFFFFF"/>
                </a:solidFill>
                <a:latin typeface="Arial"/>
              </a:rPr>
              <a:t>потяни за белые кружочки по углам карточки.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68496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041E3C"/>
          </a:solidFill>
          <a:ln w="254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>
                <a:solidFill>
                  <a:srgbClr val="FFD23F"/>
                </a:solidFill>
                <a:latin typeface="Arial"/>
              </a:rPr>
              <a:t>Заливка и прозрачность: </a:t>
            </a:r>
            <a:r>
              <a:rPr sz="1900">
                <a:solidFill>
                  <a:srgbClr val="FFFFFF"/>
                </a:solidFill>
                <a:latin typeface="Arial"/>
              </a:rPr>
              <a:t>правый клик по карточке → «Формат фигуры» → «Заливка» → ползунок «Прозрачность».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75504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041E3C"/>
          </a:solidFill>
          <a:ln w="254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>
                <a:solidFill>
                  <a:srgbClr val="FFD23F"/>
                </a:solidFill>
                <a:latin typeface="Arial"/>
              </a:rPr>
              <a:t>Шрифт: </a:t>
            </a:r>
            <a:r>
              <a:rPr sz="1900">
                <a:solidFill>
                  <a:srgbClr val="FFFFFF"/>
                </a:solidFill>
                <a:latin typeface="Arial"/>
              </a:rPr>
              <a:t>выдели текст → вкладка «Главная» → выбери шрифт, размер и цвет.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382512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041E3C"/>
          </a:solidFill>
          <a:ln w="254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>
                <a:solidFill>
                  <a:srgbClr val="FFD23F"/>
                </a:solidFill>
                <a:latin typeface="Arial"/>
              </a:rPr>
              <a:t>Печать: </a:t>
            </a:r>
            <a:r>
              <a:rPr sz="1900">
                <a:solidFill>
                  <a:srgbClr val="FFFFFF"/>
                </a:solidFill>
                <a:latin typeface="Arial"/>
              </a:rPr>
              <a:t>«Файл» → «Печать». Картинка вертикальная — хорошо ляжет на лист А4.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7589520"/>
            <a:ext cx="7863840" cy="1051560"/>
          </a:xfrm>
          <a:prstGeom prst="roundRect">
            <a:avLst>
              <a:gd name="adj" fmla="val 10000"/>
            </a:avLst>
          </a:prstGeom>
          <a:solidFill>
            <a:srgbClr val="041E3C"/>
          </a:solidFill>
          <a:ln w="254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>
                <a:solidFill>
                  <a:srgbClr val="FFD23F"/>
                </a:solidFill>
                <a:latin typeface="Arial"/>
              </a:rPr>
              <a:t>Найти карточку: </a:t>
            </a:r>
            <a:r>
              <a:rPr sz="1900">
                <a:solidFill>
                  <a:srgbClr val="FFFFFF"/>
                </a:solidFill>
                <a:latin typeface="Arial"/>
              </a:rPr>
              <a:t>вкладка «Главная» → «Выделить» → «Область выделения» — там все карточки подписаны.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