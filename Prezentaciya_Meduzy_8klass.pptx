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_swarm.jpg"/>
          <p:cNvPicPr>
            <a:picLocks noChangeAspect="1"/>
          </p:cNvPicPr>
          <p:nvPr/>
        </p:nvPicPr>
        <p:blipFill>
          <a:blip r:embed="rId2"/>
          <a:srcRect l="389" r="38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spc="300">
                <a:solidFill>
                  <a:srgbClr val="35D0FF"/>
                </a:solidFill>
                <a:latin typeface="Trebuchet MS"/>
                <a:effectLst>
                  <a:outerShdw blurRad="45000" dist="20000" dir="5400000" algn="ctr" rotWithShape="0">
                    <a:srgbClr val="000000">
                      <a:alpha val="60000"/>
                    </a:srgbClr>
                  </a:outerShdw>
                </a:effectLst>
              </a:rPr>
              <a:t>БИОЛОГИЯ • 8 «Б» КЛАСС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0" b="1">
                <a:solidFill>
                  <a:srgbClr val="FFFFFF"/>
                </a:solidFill>
                <a:latin typeface="Arial Black"/>
                <a:effectLst>
                  <a:outerShdw blurRad="45000" dist="20000" dir="5400000" algn="ctr" rotWithShape="0">
                    <a:srgbClr val="000000">
                      <a:alpha val="60000"/>
                    </a:srgbClr>
                  </a:outerShdw>
                </a:effectLst>
              </a:rPr>
              <a:t>МЕДУЗЫ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3000" b="0">
                <a:solidFill>
                  <a:srgbClr val="E1F0FF"/>
                </a:solidFill>
                <a:latin typeface="Trebuchet MS"/>
                <a:effectLst>
                  <a:outerShdw blurRad="45000" dist="20000" dir="5400000" algn="ctr" rotWithShape="0">
                    <a:srgbClr val="000000">
                      <a:alpha val="60000"/>
                    </a:srgbClr>
                  </a:outerShdw>
                </a:effectLst>
              </a:rPr>
              <a:t>загадочные стрекающие океана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E1F0FF"/>
                </a:solidFill>
                <a:latin typeface="Calibri"/>
                <a:effectLst>
                  <a:outerShdw blurRad="45000" dist="20000" dir="5400000" algn="ctr" rotWithShape="0">
                    <a:srgbClr val="000000">
                      <a:alpha val="60000"/>
                    </a:srgbClr>
                  </a:outerShdw>
                </a:effectLst>
              </a:rPr>
              <a:t>Автор: ученик(ца) 8 «Б» класса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Trebuchet MS"/>
                <a:effectLst>
                  <a:outerShdw blurRad="45000" dist="20000" dir="5400000" algn="ctr" rotWithShape="0">
                    <a:srgbClr val="000000">
                      <a:alpha val="60000"/>
                    </a:srgbClr>
                  </a:outerShdw>
                </a:effectLst>
              </a:rPr>
              <a:t>01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30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_in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00309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00309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00309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0030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35D0FF"/>
                </a:solidFill>
                <a:latin typeface="Trebuchet MS"/>
              </a:rPr>
              <a:t>КЛАССИФИКАЦИЯ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Trebuchet MS"/>
              </a:rPr>
              <a:t>Кто такие медузы?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Царство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Животные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Тип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Стрекающие (Cnidaria)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Медуза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плавающая стадия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Полип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сидячая стадия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Классов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три: гидроидные, сцифоидные, кубомедузы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D23F"/>
                </a:solidFill>
                <a:latin typeface="Trebuchet MS"/>
              </a:rPr>
              <a:t>Полип сидит — медуза плывёт!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natomy_aurelia_r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45720"/>
            <a:ext cx="10058400" cy="5486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06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760720"/>
            <a:ext cx="8686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Trebuchet MS"/>
              </a:rPr>
              <a:t>Как устроена аурелия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35D0FF"/>
                </a:solidFill>
                <a:latin typeface="Calibri"/>
              </a:rPr>
              <a:t>Найди на схеме: гонады • стрекательные клетки • ропалии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_macro_ar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10D13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10D13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10D13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10D1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FFD23F"/>
                </a:solidFill>
                <a:latin typeface="Trebuchet MS"/>
              </a:rPr>
              <a:t>КРУПНЫЙ ПЛАН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Trebuchet MS"/>
              </a:rPr>
              <a:t>Заглянем внутрь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«Лапки»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кружевные ротовые лопасти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Гонады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4 светящиеся подковы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Каналы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разносят пищу по куполу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Край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щупальца и органы чувств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35D0FF"/>
                </a:solidFill>
                <a:latin typeface="Trebuchet MS"/>
              </a:rPr>
              <a:t>Всё просвечивает сквозь купол!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7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_tentac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20710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20710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20710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2071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FF96C8"/>
                </a:solidFill>
                <a:latin typeface="Trebuchet MS"/>
              </a:rPr>
              <a:t>СУПЕРОРУЖИЕ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400" b="1">
                <a:solidFill>
                  <a:srgbClr val="FFFFFF"/>
                </a:solidFill>
                <a:latin typeface="Trebuchet MS"/>
              </a:rPr>
              <a:t>Выстрел за 0,003 секунды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96C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Книдоцит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живая гарпунная пушка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96C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Ускорение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5 000 000 g!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96C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Яд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парализует мгновенно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96C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Срабатывает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сама от прикосновения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5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_hu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0253B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0253B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0253B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025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35D0FF"/>
                </a:solidFill>
                <a:latin typeface="Trebuchet MS"/>
              </a:rPr>
              <a:t>ДВИЖЕНИЕ И ОХОТА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400" b="1">
                <a:solidFill>
                  <a:srgbClr val="FFFFFF"/>
                </a:solidFill>
                <a:latin typeface="Trebuchet MS"/>
              </a:rPr>
              <a:t>Живой реактивный двигатель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Сжал купол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вытолкнул воду — толчок!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Щупальца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рыболовная сеть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Все медузы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хищники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Рот один на всё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и ест, и выводит отходы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fecycle_r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45720"/>
            <a:ext cx="10058400" cy="5486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06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760720"/>
            <a:ext cx="8686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Trebuchet MS"/>
              </a:rPr>
              <a:t>6 превращений за жизнь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35D0FF"/>
                </a:solidFill>
                <a:latin typeface="Calibri"/>
              </a:rPr>
              <a:t>медуза → яйца → планула → полип → стробиляция → эфира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2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_hydro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82235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82235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82235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8223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AAE678"/>
                </a:solidFill>
                <a:latin typeface="Trebuchet MS"/>
              </a:rPr>
              <a:t>ГИДРОИДНЫЕ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Trebuchet MS"/>
              </a:rPr>
              <a:t>Крошки и колонии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AAE67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Рост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всего 1–4 см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AAE67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Кораблик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целая колония под парусом!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AAE67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Щупальца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до 30 метров вглубь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D23F"/>
                </a:solidFill>
                <a:latin typeface="Trebuchet MS"/>
              </a:rPr>
              <a:t>★ Turritopsis умеет молодеть!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6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_cyan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01624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01624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01624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0162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3657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FFD23F"/>
                </a:solidFill>
                <a:latin typeface="Trebuchet MS"/>
              </a:rPr>
              <a:t>СЦИФОИДНЫЕ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Trebuchet MS"/>
              </a:rPr>
              <a:t>Гиганты морей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Аурелия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4 колечка, безопасна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Корнерот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кружево Чёрного моря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Живут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только в морях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D23F"/>
                </a:solidFill>
                <a:latin typeface="Trebuchet MS"/>
              </a:rPr>
              <a:t>РЕКОРД: цианея 37 м — длиннее кита!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6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_bo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247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3363B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3363B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3363B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3363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35D0FF"/>
                </a:solidFill>
                <a:latin typeface="Trebuchet MS"/>
              </a:rPr>
              <a:t>КУБОМЕДУЗЫ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Trebuchet MS"/>
              </a:rPr>
              <a:t>Опасные красавицы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Зонтик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кубический!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Скорость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6 км/ч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Глаза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24, есть с хрусталиком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166360"/>
            <a:ext cx="4023360" cy="868680"/>
          </a:xfrm>
          <a:prstGeom prst="roundRect">
            <a:avLst>
              <a:gd name="adj" fmla="val 25000"/>
            </a:avLst>
          </a:prstGeom>
          <a:solidFill>
            <a:srgbClr val="E6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39512"/>
            <a:ext cx="37490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Морская оса убивает за 2–5 минут!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38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_aurel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13840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13840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13840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1384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AAE678"/>
                </a:solidFill>
                <a:latin typeface="Trebuchet MS"/>
              </a:rPr>
              <a:t>БЕЗОПАСНОСТЬ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Trebuchet MS"/>
              </a:rPr>
              <a:t>Безобидные медузы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AAE67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Аурелия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почти не жжётся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AAE67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Корнерот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как крапива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AAE67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Гребневики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не стрекаются вовсе!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166360"/>
            <a:ext cx="4023360" cy="868680"/>
          </a:xfrm>
          <a:prstGeom prst="roundRect">
            <a:avLst>
              <a:gd name="adj" fmla="val 25000"/>
            </a:avLst>
          </a:prstGeom>
          <a:solidFill>
            <a:srgbClr val="AAE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39512"/>
            <a:ext cx="374904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31630"/>
                </a:solidFill>
                <a:latin typeface="Calibri"/>
              </a:rPr>
              <a:t>Незнакомую медузу не трогай!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D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_macro_e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3B2D34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3B2D34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3B2D34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3B2D3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E6503C"/>
                </a:solidFill>
                <a:latin typeface="Trebuchet MS"/>
              </a:rPr>
              <a:t>ПЕРВАЯ ПОМОЩЬ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Trebuchet MS"/>
              </a:rPr>
              <a:t>Ожог! Что делать?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E6503C"/>
                </a:solidFill>
                <a:latin typeface="Calibri"/>
              </a:rPr>
              <a:t>— </a:t>
            </a:r>
            <a:r>
              <a:rPr sz="1900" b="1">
                <a:solidFill>
                  <a:srgbClr val="E6503C"/>
                </a:solidFill>
                <a:latin typeface="Calibri"/>
              </a:rPr>
              <a:t>1 — </a:t>
            </a:r>
            <a:r>
              <a:rPr sz="1900" b="0">
                <a:solidFill>
                  <a:srgbClr val="FFFFFF"/>
                </a:solidFill>
                <a:latin typeface="Calibri"/>
              </a:rPr>
              <a:t>выйди из воды, не три кожу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E6503C"/>
                </a:solidFill>
                <a:latin typeface="Calibri"/>
              </a:rPr>
              <a:t>— </a:t>
            </a:r>
            <a:r>
              <a:rPr sz="1900" b="1">
                <a:solidFill>
                  <a:srgbClr val="E6503C"/>
                </a:solidFill>
                <a:latin typeface="Calibri"/>
              </a:rPr>
              <a:t>2 — </a:t>
            </a:r>
            <a:r>
              <a:rPr sz="1900" b="0">
                <a:solidFill>
                  <a:srgbClr val="FFFFFF"/>
                </a:solidFill>
                <a:latin typeface="Calibri"/>
              </a:rPr>
              <a:t>щупальца убери картой, не руками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E6503C"/>
                </a:solidFill>
                <a:latin typeface="Calibri"/>
              </a:rPr>
              <a:t>— </a:t>
            </a:r>
            <a:r>
              <a:rPr sz="1900" b="1">
                <a:solidFill>
                  <a:srgbClr val="E6503C"/>
                </a:solidFill>
                <a:latin typeface="Calibri"/>
              </a:rPr>
              <a:t>3 — </a:t>
            </a:r>
            <a:r>
              <a:rPr sz="1900" b="0">
                <a:solidFill>
                  <a:srgbClr val="FFFFFF"/>
                </a:solidFill>
                <a:latin typeface="Calibri"/>
              </a:rPr>
              <a:t>промой уксусом или морской водой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E6503C"/>
                </a:solidFill>
                <a:latin typeface="Calibri"/>
              </a:rPr>
              <a:t>— </a:t>
            </a:r>
            <a:r>
              <a:rPr sz="1900" b="1">
                <a:solidFill>
                  <a:srgbClr val="E6503C"/>
                </a:solidFill>
                <a:latin typeface="Calibri"/>
              </a:rPr>
              <a:t>4 — </a:t>
            </a:r>
            <a:r>
              <a:rPr sz="1900" b="0">
                <a:solidFill>
                  <a:srgbClr val="FFFFFF"/>
                </a:solidFill>
                <a:latin typeface="Calibri"/>
              </a:rPr>
              <a:t>боль не проходит — к врачу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349240"/>
            <a:ext cx="4023360" cy="731520"/>
          </a:xfrm>
          <a:prstGeom prst="roundRect">
            <a:avLst>
              <a:gd name="adj" fmla="val 25000"/>
            </a:avLst>
          </a:prstGeom>
          <a:solidFill>
            <a:srgbClr val="E6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22392"/>
            <a:ext cx="3749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НЕЛЬЗЯ: пресная вода • песок • спирт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74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es_tur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43748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4374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43748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4374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35D0FF"/>
                </a:solidFill>
                <a:latin typeface="Trebuchet MS"/>
              </a:rPr>
              <a:t>ПОЛЬЗА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Trebuchet MS"/>
              </a:rPr>
              <a:t>Чем полезны?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Еда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салат из медуз, 1700 лет в Азии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Медицина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коллаген и лекарства из яда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Наука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Нобелевка-2008 за свечение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Природа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еда черепах и рыб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639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ct_di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-296648"/>
            <a:ext cx="13350240" cy="74512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563931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563931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563931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56393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FFD23F"/>
                </a:solidFill>
                <a:latin typeface="Trebuchet MS"/>
              </a:rPr>
              <a:t>ФАКТ 1 ИЗ 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Trebuchet MS"/>
              </a:rPr>
              <a:t>Старше динозавров!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Медузам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650 000 000 лет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Динозаврам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«всего» 230 миллионов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Пережили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5 массовых вымираний!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556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ct_wa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235564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235564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235564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23556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35D0FF"/>
                </a:solidFill>
                <a:latin typeface="Trebuchet MS"/>
              </a:rPr>
              <a:t>ФАКТ 2 ИЗ 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Trebuchet MS"/>
              </a:rPr>
              <a:t>Тело — почти вода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Вода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до 98% тела!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Остальное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чуть-чуть белка-желе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На берегу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тает, как мороженое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21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ct_wh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-296648"/>
            <a:ext cx="13350240" cy="74512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01628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01628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01628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0162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FFD23F"/>
                </a:solidFill>
                <a:latin typeface="Trebuchet MS"/>
              </a:rPr>
              <a:t>ФАКТ 3 ИЗ 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Trebuchet MS"/>
              </a:rPr>
              <a:t>Длиннее синего кита!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Цианея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щупальца до 37 метров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Синий кит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до 33 метров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D23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Вывод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медуза длиннее великана!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1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ct_ey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E3135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E3135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E3135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E313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35D0FF"/>
                </a:solidFill>
                <a:latin typeface="Trebuchet MS"/>
              </a:rPr>
              <a:t>ФАКТ 4 ИЗ 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Trebuchet MS"/>
              </a:rPr>
              <a:t>24 глаза. Считаем!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У куба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4 стороны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На каждой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6 глаз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Итого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4 × 6 = 24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977639"/>
            <a:ext cx="274320" cy="274320"/>
          </a:xfrm>
          <a:prstGeom prst="ellipse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1288" y="3977639"/>
            <a:ext cx="274320" cy="274320"/>
          </a:xfrm>
          <a:prstGeom prst="ellipse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45336" y="3977639"/>
            <a:ext cx="274320" cy="274320"/>
          </a:xfrm>
          <a:prstGeom prst="ellipse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29384" y="3977639"/>
            <a:ext cx="274320" cy="274320"/>
          </a:xfrm>
          <a:prstGeom prst="ellipse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13432" y="3977639"/>
            <a:ext cx="274320" cy="274320"/>
          </a:xfrm>
          <a:prstGeom prst="ellipse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97480" y="3977639"/>
            <a:ext cx="274320" cy="274320"/>
          </a:xfrm>
          <a:prstGeom prst="ellipse">
            <a:avLst/>
          </a:prstGeom>
          <a:solidFill>
            <a:srgbClr val="35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361688"/>
            <a:ext cx="274320" cy="274320"/>
          </a:xfrm>
          <a:prstGeom prst="ellipse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61288" y="4361688"/>
            <a:ext cx="274320" cy="274320"/>
          </a:xfrm>
          <a:prstGeom prst="ellipse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45336" y="4361688"/>
            <a:ext cx="274320" cy="274320"/>
          </a:xfrm>
          <a:prstGeom prst="ellipse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29384" y="4361688"/>
            <a:ext cx="274320" cy="274320"/>
          </a:xfrm>
          <a:prstGeom prst="ellipse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13432" y="4361688"/>
            <a:ext cx="274320" cy="274320"/>
          </a:xfrm>
          <a:prstGeom prst="ellipse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97480" y="4361688"/>
            <a:ext cx="274320" cy="274320"/>
          </a:xfrm>
          <a:prstGeom prst="ellipse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745736"/>
            <a:ext cx="274320" cy="274320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1288" y="4745736"/>
            <a:ext cx="274320" cy="274320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545336" y="4745736"/>
            <a:ext cx="274320" cy="274320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29384" y="4745736"/>
            <a:ext cx="274320" cy="274320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13432" y="4745736"/>
            <a:ext cx="274320" cy="274320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97480" y="4745736"/>
            <a:ext cx="274320" cy="274320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5129783"/>
            <a:ext cx="274320" cy="274320"/>
          </a:xfrm>
          <a:prstGeom prst="ellipse">
            <a:avLst/>
          </a:prstGeom>
          <a:solidFill>
            <a:srgbClr val="AAE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1288" y="5129783"/>
            <a:ext cx="274320" cy="274320"/>
          </a:xfrm>
          <a:prstGeom prst="ellipse">
            <a:avLst/>
          </a:prstGeom>
          <a:solidFill>
            <a:srgbClr val="AAE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45336" y="5129783"/>
            <a:ext cx="274320" cy="274320"/>
          </a:xfrm>
          <a:prstGeom prst="ellipse">
            <a:avLst/>
          </a:prstGeom>
          <a:solidFill>
            <a:srgbClr val="AAE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9384" y="5129783"/>
            <a:ext cx="274320" cy="274320"/>
          </a:xfrm>
          <a:prstGeom prst="ellipse">
            <a:avLst/>
          </a:prstGeom>
          <a:solidFill>
            <a:srgbClr val="AAE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13432" y="5129783"/>
            <a:ext cx="274320" cy="274320"/>
          </a:xfrm>
          <a:prstGeom prst="ellipse">
            <a:avLst/>
          </a:prstGeom>
          <a:solidFill>
            <a:srgbClr val="AAE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697480" y="5129783"/>
            <a:ext cx="274320" cy="274320"/>
          </a:xfrm>
          <a:prstGeom prst="ellipse">
            <a:avLst/>
          </a:prstGeom>
          <a:solidFill>
            <a:srgbClr val="AAE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6235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1F0FF"/>
                </a:solidFill>
                <a:latin typeface="Trebuchet MS"/>
              </a:rPr>
              <a:t>4 цвета — 4 стороны куба. Пересчитай!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9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ct_immort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648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00912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00912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00912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00912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FF96C8"/>
                </a:solidFill>
                <a:latin typeface="Trebuchet MS"/>
              </a:rPr>
              <a:t>ФАКТ 5 ИЗ 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Trebuchet MS"/>
              </a:rPr>
              <a:t>Бессмертная медуза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96C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Беда?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превращается обратно в полип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96C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Клетки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обновляются и молодеют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96C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Цикл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начинается заново. И так без конца!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96C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Учёные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изучают её секрет старения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ct_st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070D12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070D12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070D12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070D12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35D0FF"/>
                </a:solidFill>
                <a:latin typeface="Trebuchet MS"/>
              </a:rPr>
              <a:t>ФАКТ 6 ИЗ 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Trebuchet MS"/>
              </a:rPr>
              <a:t>Живой барометр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Слышит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гул шторма за 15 часов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Как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тело ловит инфразвук волн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35D0FF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Что делает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уходит на глубину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ct_sp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228600"/>
            <a:ext cx="13411200" cy="7315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5212080" cy="7406640"/>
          </a:xfrm>
          <a:prstGeom prst="rect">
            <a:avLst/>
          </a:prstGeom>
          <a:solidFill>
            <a:srgbClr val="131720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-274320"/>
            <a:ext cx="713232" cy="7406640"/>
          </a:xfrm>
          <a:prstGeom prst="rect">
            <a:avLst/>
          </a:prstGeom>
          <a:solidFill>
            <a:srgbClr val="131720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40680" y="-274320"/>
            <a:ext cx="713232" cy="7406640"/>
          </a:xfrm>
          <a:prstGeom prst="rect">
            <a:avLst/>
          </a:prstGeom>
          <a:solidFill>
            <a:srgbClr val="131720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-274320"/>
            <a:ext cx="713232" cy="7406640"/>
          </a:xfrm>
          <a:prstGeom prst="rect">
            <a:avLst/>
          </a:prstGeom>
          <a:solidFill>
            <a:srgbClr val="13172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spc="250">
                <a:solidFill>
                  <a:srgbClr val="FF96C8"/>
                </a:solidFill>
                <a:latin typeface="Trebuchet MS"/>
              </a:rPr>
              <a:t>ФАКТ 7 ИЗ 7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Trebuchet MS"/>
              </a:rPr>
              <a:t>Летали в космос!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96C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1991 год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шаттл «Колумбия», 2500 полипов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96C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В невесомости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полипы размножались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F96C8"/>
                </a:solidFill>
                <a:latin typeface="Calibri"/>
              </a:rPr>
              <a:t>— </a:t>
            </a:r>
            <a:r>
              <a:rPr sz="2000" b="1">
                <a:solidFill>
                  <a:srgbClr val="FFFFFF"/>
                </a:solidFill>
                <a:latin typeface="Calibri"/>
              </a:rPr>
              <a:t>Но — </a:t>
            </a:r>
            <a:r>
              <a:rPr sz="2000" b="0">
                <a:solidFill>
                  <a:srgbClr val="FFFFFF"/>
                </a:solidFill>
                <a:latin typeface="Calibri"/>
              </a:rPr>
              <a:t>«космические» медузы не держали равновесие: кружилась голова!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versity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773" y="-274320"/>
            <a:ext cx="4133938" cy="7406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0" y="-274320"/>
            <a:ext cx="6858000" cy="7406640"/>
          </a:xfrm>
          <a:prstGeom prst="rect">
            <a:avLst/>
          </a:prstGeom>
          <a:solidFill>
            <a:srgbClr val="00253D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-274320"/>
            <a:ext cx="713232" cy="7406640"/>
          </a:xfrm>
          <a:prstGeom prst="rect">
            <a:avLst/>
          </a:prstGeom>
          <a:solidFill>
            <a:srgbClr val="00253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86600" y="-274320"/>
            <a:ext cx="713232" cy="7406640"/>
          </a:xfrm>
          <a:prstGeom prst="rect">
            <a:avLst/>
          </a:prstGeom>
          <a:solidFill>
            <a:srgbClr val="00253D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-274320"/>
            <a:ext cx="713232" cy="7406640"/>
          </a:xfrm>
          <a:prstGeom prst="rect">
            <a:avLst/>
          </a:prstGeom>
          <a:solidFill>
            <a:srgbClr val="00253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600" b="1">
                <a:solidFill>
                  <a:srgbClr val="FFD23F"/>
                </a:solidFill>
                <a:latin typeface="Trebuchet MS"/>
              </a:rPr>
              <a:t>Спасибо за внимание!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Без мозга и сердца — а живут 650 млн лет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Хищники с гарпунами быстрее пули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Красота океана, которую надо беречь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35D0FF"/>
                </a:solidFill>
                <a:latin typeface="Trebuchet MS"/>
              </a:rPr>
              <a:t>Вопросы?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6BEDC"/>
                </a:solidFill>
                <a:latin typeface="Trebuchet MS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